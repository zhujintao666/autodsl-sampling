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274320" y="274320"/>
          <a:ext cx="11750040" cy="603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2057400"/>
                <a:gridCol w="2057400"/>
                <a:gridCol w="2057400"/>
                <a:gridCol w="2057400"/>
                <a:gridCol w="2057400"/>
              </a:tblGrid>
              <a:tr h="1207008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Supplier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Manufacturer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Distributor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Wholesaler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Retailer</a:t>
                      </a:r>
                    </a:p>
                  </a:txBody>
                  <a:tcPr/>
                </a:tc>
              </a:tr>
              <a:tr h="1207008">
                <a:tc>
                  <a:txBody>
                    <a:bodyPr/>
                    <a:lstStyle/>
                    <a:p>
                      <a:r>
                        <a:rPr sz="1100"/>
                        <a:t>Properties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ProductionCapacity</a:t>
                      </a:r>
                    </a:p>
                    <a:p>
                      <a:r>
                        <a:rPr sz="1100"/>
                        <a:t>WholesalePrice</a:t>
                      </a:r>
                    </a:p>
                    <a:p>
                      <a:r>
                        <a:rPr sz="1100"/>
                        <a:t>FleetSize</a:t>
                      </a:r>
                    </a:p>
                    <a:p>
                      <a:r>
                        <a:rPr sz="1100"/>
                        <a:t>Inventory</a:t>
                      </a:r>
                    </a:p>
                    <a:p>
                      <a:r>
                        <a:rPr sz="1100"/>
                        <a:t>ProductionCost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FactoryCapacity</a:t>
                      </a:r>
                    </a:p>
                    <a:p>
                      <a:r>
                        <a:rPr sz="1100"/>
                        <a:t>ProductPrice</a:t>
                      </a:r>
                    </a:p>
                    <a:p>
                      <a:r>
                        <a:rPr sz="1100"/>
                        <a:t>MachineryCount</a:t>
                      </a:r>
                    </a:p>
                    <a:p>
                      <a:r>
                        <a:rPr sz="1100"/>
                        <a:t>ManufacturingCost</a:t>
                      </a:r>
                    </a:p>
                    <a:p>
                      <a:r>
                        <a:rPr sz="1100"/>
                        <a:t>RawMaterialStock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DistributionPrice</a:t>
                      </a:r>
                    </a:p>
                    <a:p>
                      <a:r>
                        <a:rPr sz="1100"/>
                        <a:t>TruckFleet</a:t>
                      </a:r>
                    </a:p>
                    <a:p>
                      <a:r>
                        <a:rPr sz="1100"/>
                        <a:t>TransportCost</a:t>
                      </a:r>
                    </a:p>
                    <a:p>
                      <a:r>
                        <a:rPr sz="1100"/>
                        <a:t>DeliveryCapacity</a:t>
                      </a:r>
                    </a:p>
                    <a:p>
                      <a:r>
                        <a:rPr sz="1100"/>
                        <a:t>WarehouseStock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UnitSalePrice</a:t>
                      </a:r>
                    </a:p>
                    <a:p>
                      <a:r>
                        <a:rPr sz="1100"/>
                        <a:t>StoredGoods</a:t>
                      </a:r>
                    </a:p>
                    <a:p>
                      <a:r>
                        <a:rPr sz="1100"/>
                        <a:t>WarehouseAssets</a:t>
                      </a:r>
                    </a:p>
                    <a:p>
                      <a:r>
                        <a:rPr sz="1100"/>
                        <a:t>HandlingCost</a:t>
                      </a:r>
                    </a:p>
                    <a:p>
                      <a:r>
                        <a:rPr sz="1100"/>
                        <a:t>StorageCapacity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CashReserves</a:t>
                      </a:r>
                    </a:p>
                    <a:p>
                      <a:r>
                        <a:rPr sz="1100"/>
                        <a:t>OnHandInventory</a:t>
                      </a:r>
                    </a:p>
                    <a:p>
                      <a:r>
                        <a:rPr sz="1100"/>
                        <a:t>StoreCapacity</a:t>
                      </a:r>
                    </a:p>
                    <a:p>
                      <a:r>
                        <a:rPr sz="1100"/>
                        <a:t>OperatingCost</a:t>
                      </a:r>
                    </a:p>
                    <a:p>
                      <a:r>
                        <a:rPr sz="1100"/>
                        <a:t>RetailPrice</a:t>
                      </a:r>
                    </a:p>
                  </a:txBody>
                  <a:tcPr/>
                </a:tc>
              </a:tr>
              <a:tr h="1207008">
                <a:tc>
                  <a:txBody>
                    <a:bodyPr/>
                    <a:lstStyle/>
                    <a:p>
                      <a:r>
                        <a:rPr sz="1100"/>
                        <a:t>Objectives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Maximize ProductionCapacity</a:t>
                      </a:r>
                    </a:p>
                    <a:p>
                      <a:r>
                        <a:rPr sz="1100"/>
                        <a:t>Maximize FleetSize</a:t>
                      </a:r>
                    </a:p>
                    <a:p>
                      <a:r>
                        <a:rPr sz="1100"/>
                        <a:t>Maximize Inventory</a:t>
                      </a:r>
                    </a:p>
                    <a:p>
                      <a:r>
                        <a:rPr sz="1100"/>
                        <a:t>Minimize WholesalePrice</a:t>
                      </a:r>
                    </a:p>
                    <a:p>
                      <a:r>
                        <a:rPr sz="1100"/>
                        <a:t>Minimize ProductionCost</a:t>
                      </a:r>
                    </a:p>
                    <a:p>
                      <a:r>
                        <a:rPr sz="1100"/>
                        <a:t>Minimize DebtLevel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Maximize FactoryCapacity</a:t>
                      </a:r>
                    </a:p>
                    <a:p>
                      <a:r>
                        <a:rPr sz="1100"/>
                        <a:t>Maximize MachineryCount</a:t>
                      </a:r>
                    </a:p>
                    <a:p>
                      <a:r>
                        <a:rPr sz="1100"/>
                        <a:t>Maximize RawMaterialStock</a:t>
                      </a:r>
                    </a:p>
                    <a:p>
                      <a:r>
                        <a:rPr sz="1100"/>
                        <a:t>Maximize ProductPrice</a:t>
                      </a:r>
                    </a:p>
                    <a:p>
                      <a:r>
                        <a:rPr sz="1100"/>
                        <a:t>Minimize ManufacturingCost</a:t>
                      </a:r>
                    </a:p>
                    <a:p>
                      <a:r>
                        <a:rPr sz="1100"/>
                        <a:t>Minimize OutstandingDebt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Maximize DeliveryCapacity</a:t>
                      </a:r>
                    </a:p>
                    <a:p>
                      <a:r>
                        <a:rPr sz="1100"/>
                        <a:t>Maximize TruckFleet</a:t>
                      </a:r>
                    </a:p>
                    <a:p>
                      <a:r>
                        <a:rPr sz="1100"/>
                        <a:t>Maximize WarehouseStock</a:t>
                      </a:r>
                    </a:p>
                    <a:p>
                      <a:r>
                        <a:rPr sz="1100"/>
                        <a:t>Maximize DistributionPrice</a:t>
                      </a:r>
                    </a:p>
                    <a:p>
                      <a:r>
                        <a:rPr sz="1100"/>
                        <a:t>Minimize TransportCost</a:t>
                      </a:r>
                    </a:p>
                    <a:p>
                      <a:r>
                        <a:rPr sz="1100"/>
                        <a:t>Minimize CreditOwed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Maximize StorageCapacity</a:t>
                      </a:r>
                    </a:p>
                    <a:p>
                      <a:r>
                        <a:rPr sz="1100"/>
                        <a:t>Maximize StoredGoods</a:t>
                      </a:r>
                    </a:p>
                    <a:p>
                      <a:r>
                        <a:rPr sz="1100"/>
                        <a:t>Maximize WarehouseAssets</a:t>
                      </a:r>
                    </a:p>
                    <a:p>
                      <a:r>
                        <a:rPr sz="1100"/>
                        <a:t>Maximize UnitSalePrice</a:t>
                      </a:r>
                    </a:p>
                    <a:p>
                      <a:r>
                        <a:rPr sz="1100"/>
                        <a:t>Minimize HandlingCost</a:t>
                      </a:r>
                    </a:p>
                    <a:p>
                      <a:r>
                        <a:rPr sz="1100"/>
                        <a:t>Minimize Payables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Maximize StoreCapacity</a:t>
                      </a:r>
                    </a:p>
                    <a:p>
                      <a:r>
                        <a:rPr sz="1100"/>
                        <a:t>Maximize OnHandInventory</a:t>
                      </a:r>
                    </a:p>
                    <a:p>
                      <a:r>
                        <a:rPr sz="1100"/>
                        <a:t>Maximize CashReserves</a:t>
                      </a:r>
                    </a:p>
                    <a:p>
                      <a:r>
                        <a:rPr sz="1100"/>
                        <a:t>Maximize RetailPrice</a:t>
                      </a:r>
                    </a:p>
                    <a:p>
                      <a:r>
                        <a:rPr sz="1100"/>
                        <a:t>Minimize OperatingCost</a:t>
                      </a:r>
                    </a:p>
                    <a:p>
                      <a:r>
                        <a:rPr sz="1100"/>
                        <a:t>Minimize ShortTermLiability</a:t>
                      </a:r>
                    </a:p>
                  </a:txBody>
                  <a:tcPr/>
                </a:tc>
              </a:tr>
              <a:tr h="1207008">
                <a:tc>
                  <a:txBody>
                    <a:bodyPr/>
                    <a:lstStyle/>
                    <a:p>
                      <a:r>
                        <a:rPr sz="1100"/>
                        <a:t>States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Self:</a:t>
                      </a:r>
                    </a:p>
                    <a:p>
                      <a:r>
                        <a:rPr sz="1100"/>
                        <a:t>FleetSize</a:t>
                      </a:r>
                    </a:p>
                    <a:p>
                      <a:r>
                        <a:rPr sz="1100"/>
                        <a:t>Inventory</a:t>
                      </a:r>
                    </a:p>
                    <a:p>
                      <a:r>
                        <a:rPr sz="1100"/>
                        <a:t>ProductionCapacity</a:t>
                      </a:r>
                    </a:p>
                    <a:p>
                      <a:r>
                        <a:rPr sz="1100"/>
                        <a:t>ProductionCost</a:t>
                      </a:r>
                    </a:p>
                    <a:p>
                      <a:r>
                        <a:rPr sz="1100"/>
                        <a:t>WholesalePrice</a:t>
                      </a:r>
                    </a:p>
                    <a:p/>
                    <a:p>
                      <a:r>
                        <a:rPr sz="1100"/>
                        <a:t>Neighbors:</a:t>
                      </a:r>
                    </a:p>
                    <a:p>
                      <a:r>
                        <a:rPr sz="1100"/>
                        <a:t>—</a:t>
                      </a:r>
                    </a:p>
                    <a:p/>
                    <a:p>
                      <a:r>
                        <a:rPr sz="1100"/>
                        <a:t>Relations:</a:t>
                      </a:r>
                    </a:p>
                    <a:p>
                      <a:r>
                        <a:rPr sz="1100"/>
                        <a:t>ArrivingOrders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Self:</a:t>
                      </a:r>
                    </a:p>
                    <a:p>
                      <a:r>
                        <a:rPr sz="1100"/>
                        <a:t>FactoryCapacity</a:t>
                      </a:r>
                    </a:p>
                    <a:p>
                      <a:r>
                        <a:rPr sz="1100"/>
                        <a:t>MachineryCount</a:t>
                      </a:r>
                    </a:p>
                    <a:p>
                      <a:r>
                        <a:rPr sz="1100"/>
                        <a:t>ManufacturingCost</a:t>
                      </a:r>
                    </a:p>
                    <a:p>
                      <a:r>
                        <a:rPr sz="1100"/>
                        <a:t>ProductPrice</a:t>
                      </a:r>
                    </a:p>
                    <a:p>
                      <a:r>
                        <a:rPr sz="1100"/>
                        <a:t>RawMaterialStock</a:t>
                      </a:r>
                    </a:p>
                    <a:p/>
                    <a:p>
                      <a:r>
                        <a:rPr sz="1100"/>
                        <a:t>Neighbors:</a:t>
                      </a:r>
                    </a:p>
                    <a:p>
                      <a:r>
                        <a:rPr sz="1100"/>
                        <a:t>DeliveryCapacity</a:t>
                      </a:r>
                    </a:p>
                    <a:p/>
                    <a:p>
                      <a:r>
                        <a:rPr sz="1100"/>
                        <a:t>Relations:</a:t>
                      </a:r>
                    </a:p>
                    <a:p>
                      <a:r>
                        <a:rPr sz="1100"/>
                        <a:t>DownstreamDemand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Self:</a:t>
                      </a:r>
                    </a:p>
                    <a:p>
                      <a:r>
                        <a:rPr sz="1100"/>
                        <a:t>DeliveryCapacity</a:t>
                      </a:r>
                    </a:p>
                    <a:p>
                      <a:r>
                        <a:rPr sz="1100"/>
                        <a:t>DistributionPrice</a:t>
                      </a:r>
                    </a:p>
                    <a:p>
                      <a:r>
                        <a:rPr sz="1100"/>
                        <a:t>TransportCost</a:t>
                      </a:r>
                    </a:p>
                    <a:p>
                      <a:r>
                        <a:rPr sz="1100"/>
                        <a:t>TruckFleet</a:t>
                      </a:r>
                    </a:p>
                    <a:p>
                      <a:r>
                        <a:rPr sz="1100"/>
                        <a:t>WarehouseStock</a:t>
                      </a:r>
                    </a:p>
                    <a:p/>
                    <a:p>
                      <a:r>
                        <a:rPr sz="1100"/>
                        <a:t>Neighbors:</a:t>
                      </a:r>
                    </a:p>
                    <a:p>
                      <a:r>
                        <a:rPr sz="1100"/>
                        <a:t>StorageCapacity</a:t>
                      </a:r>
                    </a:p>
                    <a:p/>
                    <a:p>
                      <a:r>
                        <a:rPr sz="1100"/>
                        <a:t>Relations:</a:t>
                      </a:r>
                    </a:p>
                    <a:p>
                      <a:r>
                        <a:rPr sz="1100"/>
                        <a:t>ArrivingOrders</a:t>
                      </a:r>
                    </a:p>
                    <a:p>
                      <a:r>
                        <a:rPr sz="1100"/>
                        <a:t>DownstreamDemand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Self:</a:t>
                      </a:r>
                    </a:p>
                    <a:p>
                      <a:r>
                        <a:rPr sz="1100"/>
                        <a:t>HandlingCost</a:t>
                      </a:r>
                    </a:p>
                    <a:p>
                      <a:r>
                        <a:rPr sz="1100"/>
                        <a:t>StorageCapacity</a:t>
                      </a:r>
                    </a:p>
                    <a:p>
                      <a:r>
                        <a:rPr sz="1100"/>
                        <a:t>UnitSalePrice</a:t>
                      </a:r>
                    </a:p>
                    <a:p>
                      <a:r>
                        <a:rPr sz="1100"/>
                        <a:t>WarehouseAssets</a:t>
                      </a:r>
                    </a:p>
                    <a:p/>
                    <a:p>
                      <a:r>
                        <a:rPr sz="1100"/>
                        <a:t>Neighbors:</a:t>
                      </a:r>
                    </a:p>
                    <a:p>
                      <a:r>
                        <a:rPr sz="1100"/>
                        <a:t>DeliveryCapacity</a:t>
                      </a:r>
                    </a:p>
                    <a:p>
                      <a:r>
                        <a:rPr sz="1100"/>
                        <a:t>RetailPrice</a:t>
                      </a:r>
                    </a:p>
                    <a:p/>
                    <a:p>
                      <a:r>
                        <a:rPr sz="1100"/>
                        <a:t>Relations:</a:t>
                      </a:r>
                    </a:p>
                    <a:p>
                      <a:r>
                        <a:rPr sz="1100"/>
                        <a:t>DownstreamDemand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Self:</a:t>
                      </a:r>
                    </a:p>
                    <a:p>
                      <a:r>
                        <a:rPr sz="1100"/>
                        <a:t>CashReserves</a:t>
                      </a:r>
                    </a:p>
                    <a:p>
                      <a:r>
                        <a:rPr sz="1100"/>
                        <a:t>OnHandInventory</a:t>
                      </a:r>
                    </a:p>
                    <a:p>
                      <a:r>
                        <a:rPr sz="1100"/>
                        <a:t>OperatingCost</a:t>
                      </a:r>
                    </a:p>
                    <a:p>
                      <a:r>
                        <a:rPr sz="1100"/>
                        <a:t>RetailPrice</a:t>
                      </a:r>
                    </a:p>
                    <a:p>
                      <a:r>
                        <a:rPr sz="1100"/>
                        <a:t>StoreCapacity</a:t>
                      </a:r>
                    </a:p>
                    <a:p/>
                    <a:p>
                      <a:r>
                        <a:rPr sz="1100"/>
                        <a:t>Neighbors:</a:t>
                      </a:r>
                    </a:p>
                    <a:p>
                      <a:r>
                        <a:rPr sz="1100"/>
                        <a:t>StorageCapacity</a:t>
                      </a:r>
                    </a:p>
                    <a:p/>
                    <a:p>
                      <a:r>
                        <a:rPr sz="1100"/>
                        <a:t>Relations:</a:t>
                      </a:r>
                    </a:p>
                    <a:p>
                      <a:r>
                        <a:rPr sz="1100"/>
                        <a:t>ArrivingOrders</a:t>
                      </a:r>
                    </a:p>
                  </a:txBody>
                  <a:tcPr/>
                </a:tc>
              </a:tr>
              <a:tr h="1207008">
                <a:tc>
                  <a:txBody>
                    <a:bodyPr/>
                    <a:lstStyle/>
                    <a:p>
                      <a:r>
                        <a:rPr sz="1100"/>
                        <a:t>Actions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SupplierSelection: AddSupplierId, RemoveSupplierId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OrderPlacement: To, Quantity</a:t>
                      </a:r>
                    </a:p>
                    <a:p>
                      <a:r>
                        <a:rPr sz="1100"/>
                        <a:t>Produce: Quantity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OrderPlacement: To, Quantity</a:t>
                      </a:r>
                    </a:p>
                    <a:p>
                      <a:r>
                        <a:rPr sz="1100"/>
                        <a:t>SupplierSelection: AddSupplierId, RemoveSupplierId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OrderPlacement: To, Quantity</a:t>
                      </a:r>
                    </a:p>
                    <a:p>
                      <a:r>
                        <a:rPr sz="1100"/>
                        <a:t>SupplierSelection: AddSupplierId, RemoveSupplierId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OrderPlacement: To, Quantity</a:t>
                      </a:r>
                    </a:p>
                    <a:p>
                      <a:r>
                        <a:rPr sz="1100"/>
                        <a:t>SupplierSelection: AddSupplierId, RemoveSupplierId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